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0F2D5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LEGACY SCHOOL SOLWEZI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EduSphere SMIS: Enterprise Sovereign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Comprehensive Multi-Campus Management, Automated Revenue Recovery, ECZ Academic Markbooks, 360° Boarding Safeguarding &amp; Native Android Mobile Operations.</a:t>
            </a:r>
          </a:p>
          <a:p>
            <a:pPr>
              <a:defRPr sz="1200" b="1">
                <a:solidFill>
                  <a:srgbClr val="D4AF37"/>
                </a:solidFill>
              </a:defRPr>
            </a:pPr>
            <a:r>
              <a:t>Presented to: School Board of Governors, Director &amp; Principal Mr. Emmanuel Mwansa, and Ministry of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Operational Academic Session: 2026 Term 3 • Solwezi, North-Western Province, Zambia</a:t>
            </a:r>
            <a:br/>
            <a:r>
              <a:t>Campuses: Mushitala Day Campus &amp; Kansanshi Boarding Campus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Key Assets: Native Android APK • Zero-Loss Financial Ledger • 5-Horizon Attendance • Anti-Fraud QR Official Letters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Strategic Summary: Moving from Manual Risk to Automated Sovereignty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47472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Operational Fragmentation &amp; Risk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Manual paper fee receipts, paper registers, and untracked boarding movements previously exposed the institution to financial leaks, reconciliatory blind spots, and pastoral anxiety across Solwezi.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474720" cy="109728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Unified Multi-Campus Orchestration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EduSphere connects Mushitala Day (520 pupils, ECE to Grade 9) and Kansanshi Boarding (260 pupils, Grades 10-12) into one synchronized general ledger, single-login dashboard, and ECZ grading standard.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280160"/>
            <a:ext cx="34747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544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Measurable Revenue &amp; Safeguarding ROI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Recovers aged debtor balances via automated Mobile Money billing, eliminates unverified boarding, and automates real-time SMS alerts when learners tap their ID cards onto school shuttles.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Institutional Scale Overview: 780 Active Learners  •  48 Professional Staff  •  16 Class Cohorts  •  4 Bus Routes  •  350 Boarding Beds • 2 Campuses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EXECUTIVE OVERSIGHT • LIVE MULTI-CAMPUS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Command Center: Real-Time Governance for Director Emmanuel Mwansa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Single-Pane Sovereign Operations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Unified Dual-Campus Switcher: </a:t>
            </a:r>
            <a:r>
              <a:rPr b="0">
                <a:solidFill>
                  <a:srgbClr val="64748B"/>
                </a:solidFill>
              </a:rPr>
              <a:t>Toggle instantly between Consolidated View, Mushitala Day Campus, and Kansanshi Boarding Campus.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Live Financial Health Metrics: </a:t>
            </a:r>
            <a:r>
              <a:rPr b="0">
                <a:solidFill>
                  <a:srgbClr val="64748B"/>
                </a:solidFill>
              </a:rPr>
              <a:t>Tracks real-time collection rates (91.2%), term fee recovery, and authorized operational vouchers.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Daily Attendance Intelligence: </a:t>
            </a:r>
            <a:r>
              <a:rPr b="0">
                <a:solidFill>
                  <a:srgbClr val="64748B"/>
                </a:solidFill>
              </a:rPr>
              <a:t>Instant monitoring of morning roll-calls across all 16 cohorts (97.4% current rate with zero paper lag).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Cleaned Navigation &amp; Ticking Clock: </a:t>
            </a:r>
            <a:r>
              <a:rPr b="0">
                <a:solidFill>
                  <a:srgbClr val="64748B"/>
                </a:solidFill>
              </a:rPr>
              <a:t>Ultra-slim institutional header featuring live Central Africa Time (CAT) synchronised to national time servers.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Quick Resource Downloads: </a:t>
            </a:r>
            <a:r>
              <a:rPr b="0">
                <a:solidFill>
                  <a:srgbClr val="64748B"/>
                </a:solidFill>
              </a:rPr>
              <a:t>Direct 1-tap download of the Executive PowerPoint Deck, Android APK, and Stakeholder User Guide.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9 154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13903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780 Enrolled Learners • 97.4% Attendance Rate • ZMW 1,824,000 Collected • Zero Variance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STUDENT INFORMATION SYSTEM (SIS) • ADMISSIONS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Admissions &amp; Learner Registry: Digital Onboarding &amp; KYC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Holistic Learner Identity Management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Unique Zambian MoE Numbering: </a:t>
            </a:r>
            <a:r>
              <a:rPr b="0">
                <a:solidFill>
                  <a:srgbClr val="64748B"/>
                </a:solidFill>
              </a:rPr>
              <a:t>Issues permanent registration codes (e.g., LS-2026-0042) ensuring seamless national compliance.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Cadre &amp; Residence Assignment: </a:t>
            </a:r>
            <a:r>
              <a:rPr b="0">
                <a:solidFill>
                  <a:srgbClr val="64748B"/>
                </a:solidFill>
              </a:rPr>
              <a:t>Enforces strict segregation between Day Scholars (Mushitala) and Full Residential Boarders (Kansanshi).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Verified Guardian Linkage: </a:t>
            </a:r>
            <a:r>
              <a:rPr b="0">
                <a:solidFill>
                  <a:srgbClr val="64748B"/>
                </a:solidFill>
              </a:rPr>
              <a:t>Captures biological and legal guardians with phone numbers (+260) for instant SMS notifications and Parent Portal access.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Medical &amp; Dietary Profiles: </a:t>
            </a:r>
            <a:r>
              <a:rPr b="0">
                <a:solidFill>
                  <a:srgbClr val="64748B"/>
                </a:solidFill>
              </a:rPr>
              <a:t>Tracks chronic conditions, allergies, and emergency blood groups accessible to the boarding nurse.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Interactive Modal Roster: </a:t>
            </a:r>
            <a:r>
              <a:rPr b="0">
                <a:solidFill>
                  <a:srgbClr val="64748B"/>
                </a:solidFill>
              </a:rPr>
              <a:t>Instant editing of student records without background modal overlap or page reloads.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9 0657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715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100% KYC Verified • Digital Student Folders • Automated Sibling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INSTITUTIONAL INTEGRITY • STANDARDIZED CORRESPONDENCE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Official Document Generator: Letters with Authentic School Crest &amp; QR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Tamper-Proof Digital Document Suite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Full Suite of Letters: </a:t>
            </a:r>
            <a:r>
              <a:rPr b="0">
                <a:solidFill>
                  <a:srgbClr val="64748B"/>
                </a:solidFill>
              </a:rPr>
              <a:t>Generates Provisional Offer Letters, Official Acceptance Letters, Introduction / Visa Letters, and ECZ Exam Clearance.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Authentic High-Definition Crest: </a:t>
            </a:r>
            <a:r>
              <a:rPr b="0">
                <a:solidFill>
                  <a:srgbClr val="64748B"/>
                </a:solidFill>
              </a:rPr>
              <a:t>Displays verified Legacy School Solwezi insignia, official motto, and Ministry registration numbers.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Dynamic Verification QR Stamp: </a:t>
            </a:r>
            <a:r>
              <a:rPr b="0">
                <a:solidFill>
                  <a:srgbClr val="64748B"/>
                </a:solidFill>
              </a:rPr>
              <a:t>Every document embeds an anti-fraud cryptographic QR code verifiable on any smartphone camera.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Authorized Signatory Blocks: </a:t>
            </a:r>
            <a:r>
              <a:rPr b="0">
                <a:solidFill>
                  <a:srgbClr val="64748B"/>
                </a:solidFill>
              </a:rPr>
              <a:t>Pre-formatted signatures and titles of Director Mr. Emmanuel Mwansa and Head of Admissions.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1-Click PDF Export: </a:t>
            </a:r>
            <a:r>
              <a:rPr b="0">
                <a:solidFill>
                  <a:srgbClr val="64748B"/>
                </a:solidFill>
              </a:rPr>
              <a:t>Produces pixel-perfect printable A4 PDF documents ready for physical dispatch or digital transmission.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9 065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7106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Anti-Fraud QR Stamp • MOE/NWP/SOL/SEC/2026/044 • Instant PDF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STATUTORY TRACKING • 5 OPERATIONAL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Multi-Horizon Attendance Matrix: From Morning Roll-Call to Annual Return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Precision Retention Monitoring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Daily Morning Roll-Call: </a:t>
            </a:r>
            <a:r>
              <a:rPr b="0">
                <a:solidFill>
                  <a:srgbClr val="64748B"/>
                </a:solidFill>
              </a:rPr>
              <a:t>1-tap 'Mark All Present' with instant toggle for late arrivals (with minutes) and illness excuses.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Weekly Horizon Progression: </a:t>
            </a:r>
            <a:r>
              <a:rPr b="0">
                <a:solidFill>
                  <a:srgbClr val="64748B"/>
                </a:solidFill>
              </a:rPr>
              <a:t>Monitors attendance stability across Weeks 1 to 13 of Term 3, identifying engagement dips early.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Monthly Academic Register: </a:t>
            </a:r>
            <a:r>
              <a:rPr b="0">
                <a:solidFill>
                  <a:srgbClr val="64748B"/>
                </a:solidFill>
              </a:rPr>
              <a:t>31-day matrix matching statutory Ministry of Education classroom attendance registers.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Termly &amp; Annual Return: </a:t>
            </a:r>
            <a:r>
              <a:rPr b="0">
                <a:solidFill>
                  <a:srgbClr val="64748B"/>
                </a:solidFill>
              </a:rPr>
              <a:t>Aggregates 187 statutory instructional days, computing official DEBS statistical returns.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ECZ Examination Gatekeeper: </a:t>
            </a:r>
            <a:r>
              <a:rPr b="0">
                <a:solidFill>
                  <a:srgbClr val="64748B"/>
                </a:solidFill>
              </a:rPr>
              <a:t>Automatically flags students below the mandatory 75% attendance threshold for examination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9 065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6938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187 Annual School Days • 75% ECZ Threshold • Automated Parent SMS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BURSARY &amp; TREASURY • FINANCIAL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Fees Management &amp; Cashbook Control: Zero-Variance Financial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Automated Multi-Channel Revenue Collection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Zero-Variance Reconciliation: </a:t>
            </a:r>
            <a:r>
              <a:rPr b="0">
                <a:solidFill>
                  <a:srgbClr val="64748B"/>
                </a:solidFill>
              </a:rPr>
              <a:t>All 780 student ledger accounts match official receipts with zero discrepancy across Zanaco, Stanbic, and Mobile Money.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Integrated Mobile Money: </a:t>
            </a:r>
            <a:r>
              <a:rPr b="0">
                <a:solidFill>
                  <a:srgbClr val="64748B"/>
                </a:solidFill>
              </a:rPr>
              <a:t>Direct push-prompt fee payment via Airtel Money and MTN MoMo with instant digital receipt dispatch.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Multi-Campus Fee Isolation: </a:t>
            </a:r>
            <a:r>
              <a:rPr b="0">
                <a:solidFill>
                  <a:srgbClr val="64748B"/>
                </a:solidFill>
              </a:rPr>
              <a:t>Independent billing schedules for Urban Day Tuition (K2,800) and Mushitala Boarding (K10,400).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Aged Debtors Intelligence: </a:t>
            </a:r>
            <a:r>
              <a:rPr b="0">
                <a:solidFill>
                  <a:srgbClr val="64748B"/>
                </a:solidFill>
              </a:rPr>
              <a:t>Visual ledger categorizing 30, 60, and 90+ day balances to systematically recover pending fee arrears.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2FA Protected General Ledger: </a:t>
            </a:r>
            <a:r>
              <a:rPr b="0">
                <a:solidFill>
                  <a:srgbClr val="64748B"/>
                </a:solidFill>
              </a:rPr>
              <a:t>Adjustments and disbursements require secondary financial authorization to prevent fraud.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8 100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6038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ZMW 2.1M Tracked • Airtel &amp; MTN MoMo • Debtors Ageing Analysis • Auditor-Ready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ACADEMICS &amp; CURRICULUM • NATIONAL GRADING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Teacher Workspace: ECZ Assessment Suite &amp; 3-Tier Supervisory Sign-Off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Standardized Scholastic Markbook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All 16 Cohorts Selectable: </a:t>
            </a:r>
            <a:r>
              <a:rPr b="0">
                <a:solidFill>
                  <a:srgbClr val="64748B"/>
                </a:solidFill>
              </a:rPr>
              <a:t>Seamlessly switches between Early Years, Grades 1-7, and Forms 1-5 with full 30 to 44 student rosters.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Examinations Council of Zambia (ECZ) Scale: </a:t>
            </a:r>
            <a:r>
              <a:rPr b="0">
                <a:solidFill>
                  <a:srgbClr val="64748B"/>
                </a:solidFill>
              </a:rPr>
              <a:t>Built-in distinction (1-2), merit (3-4), credit (5-6), pass (7-8), and fail (9).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Continuous Assessment (CA) Weighting: </a:t>
            </a:r>
            <a:r>
              <a:rPr b="0">
                <a:solidFill>
                  <a:srgbClr val="64748B"/>
                </a:solidFill>
              </a:rPr>
              <a:t>Weekly Topic Tests (15%), CA (25%), Mock Exams (20%), and Term Finals (40%) = 100% total.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3-Tier Supervisory Workflow: </a:t>
            </a:r>
            <a:r>
              <a:rPr b="0">
                <a:solidFill>
                  <a:srgbClr val="64748B"/>
                </a:solidFill>
              </a:rPr>
              <a:t>Class Teacher submits -&gt; Senior Teacher / HOD endorses -&gt; Principal gives final approval before publication.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1-Click Batch Terminal Reports: </a:t>
            </a:r>
            <a:r>
              <a:rPr b="0">
                <a:solidFill>
                  <a:srgbClr val="64748B"/>
                </a:solidFill>
              </a:rPr>
              <a:t>High-resolution PDF report cards with school crest, grading legend, and teacher remarks.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8 102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27995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ECZ 8-Point Scale • Continuous Assessment • 3-Tier Supervisory Sign-Off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RESIDENTIAL CARE • KANSANSHI BOARDING 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360° Boarding House Management: Pastoral Care &amp; 21:00 Curfew Safeguarding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Holistic Pastoral Care &amp; Resident Welfare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Accommodation &amp; Bed Inventory: </a:t>
            </a:r>
            <a:r>
              <a:rPr b="0">
                <a:solidFill>
                  <a:srgbClr val="64748B"/>
                </a:solidFill>
              </a:rPr>
              <a:t>Real-time room and bed allocations for 280+ boarders across Kansanshi Boys and Kalumbila Girls Halls.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21:00 Nightly Curfew Bed Check: </a:t>
            </a:r>
            <a:r>
              <a:rPr b="0">
                <a:solidFill>
                  <a:srgbClr val="64748B"/>
                </a:solidFill>
              </a:rPr>
              <a:t>Housemasters conduct digital roll-call on mobile phones; missing students trigger instant alerts to the Director.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Digital Exeat Pass Workflow: </a:t>
            </a:r>
            <a:r>
              <a:rPr b="0">
                <a:solidFill>
                  <a:srgbClr val="64748B"/>
                </a:solidFill>
              </a:rPr>
              <a:t>Approval trail for weekend exeats, medical visits to Solwezi Hospital, and sports travel with SMS verification.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Perimeter Gatehouse QR Scanner: </a:t>
            </a:r>
            <a:r>
              <a:rPr b="0">
                <a:solidFill>
                  <a:srgbClr val="64748B"/>
                </a:solidFill>
              </a:rPr>
              <a:t>Security officers at Kansanshi main gate scan mobile passes before barrier release.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Catering &amp; Dining Hall Rations: </a:t>
            </a:r>
            <a:r>
              <a:rPr b="0">
                <a:solidFill>
                  <a:srgbClr val="64748B"/>
                </a:solidFill>
              </a:rPr>
              <a:t>Meal attendance linked to resident headcount to optimize kitchen inventory and prevent food waste.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8 1001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42535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350 Certified Beds • 21:00 Digital Curfew • QR Exeat Gate Passes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SPATIAL INTELLIGENCE • SMART BUS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Multi-Campus GIS &amp; Smart Transport Telematics: Live Tracking &amp; Safe Transit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Sovereign GIS &amp; Student Transit Logistics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Pairwise Road Distance Matrix: </a:t>
            </a:r>
            <a:r>
              <a:rPr b="0">
                <a:solidFill>
                  <a:srgbClr val="64748B"/>
                </a:solidFill>
              </a:rPr>
              <a:t>High-resolution satellite mapping calculates 3.80 km road distance (~7 mins drive time) between campuses.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Contactless Smart ID Card Boarding: </a:t>
            </a:r>
            <a:r>
              <a:rPr b="0">
                <a:solidFill>
                  <a:srgbClr val="64748B"/>
                </a:solidFill>
              </a:rPr>
              <a:t>Learners carry smart PVC cards with NFC/QR codes tapped onto in-bus Android tablets.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Instant Parent SMS Transit Alerts: </a:t>
            </a:r>
            <a:r>
              <a:rPr b="0">
                <a:solidFill>
                  <a:srgbClr val="64748B"/>
                </a:solidFill>
              </a:rPr>
              <a:t>'[EduSphere] Bupe Mwewa boarded BUS-SOL-02 at Kansanshi Golf Estate at 06:46 AM.'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Wrong-Bus Lockout Protection: </a:t>
            </a:r>
            <a:r>
              <a:rPr b="0">
                <a:solidFill>
                  <a:srgbClr val="64748B"/>
                </a:solidFill>
              </a:rPr>
              <a:t>Tablet sounds an audible alert if a child boards the wrong shuttle route or attempts to exit at the wrong stop.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Offline Store-and-Forward: </a:t>
            </a:r>
            <a:r>
              <a:rPr b="0">
                <a:solidFill>
                  <a:srgbClr val="64748B"/>
                </a:solidFill>
              </a:rPr>
              <a:t>Pockets along Kansanshi Road with poor cellular coverage store taps locally and auto-sync when reconnected.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8 102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2727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3.8 km Inter-Campus Road • 4 Bus Routes • Automated Parent Transit SMS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GUARDIAN SELF-SERVICE • PARENT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Parent Portal: Multi-Child Family Academic, Attendance &amp; Fee Center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Transparent Family Engagement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Multi-Ward Family Switcher: </a:t>
            </a:r>
            <a:r>
              <a:rPr b="0">
                <a:solidFill>
                  <a:srgbClr val="64748B"/>
                </a:solidFill>
              </a:rPr>
              <a:t>Parents with multiple children across ECE, Primary, and Secondary toggle all records in one unified login.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Historical Academic Progression: </a:t>
            </a:r>
            <a:r>
              <a:rPr b="0">
                <a:solidFill>
                  <a:srgbClr val="64748B"/>
                </a:solidFill>
              </a:rPr>
              <a:t>Multi-term trend charts illustrate subject growth and cohort standing over academic sessions.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Instant Mobile Money Fee Payment: </a:t>
            </a:r>
            <a:r>
              <a:rPr b="0">
                <a:solidFill>
                  <a:srgbClr val="64748B"/>
                </a:solidFill>
              </a:rPr>
              <a:t>Direct tuition settlement via Airtel Money and MTN MoMo with instant digital receipt generation.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Live Absence &amp; Conduct Feed: </a:t>
            </a:r>
            <a:r>
              <a:rPr b="0">
                <a:solidFill>
                  <a:srgbClr val="64748B"/>
                </a:solidFill>
              </a:rPr>
              <a:t>Guardians receive immediate alerts regarding morning roll-call attendance, conduct, and commendations.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Official Report Card Downloads: </a:t>
            </a:r>
            <a:r>
              <a:rPr b="0">
                <a:solidFill>
                  <a:srgbClr val="64748B"/>
                </a:solidFill>
              </a:rPr>
              <a:t>View and download high-resolution terminal report cards the moment they are approved by the Headteacher.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8 1023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5516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Multi-Ward Single Login • 1-Tap Mobile Money • Instant Report Card 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Native Android Mobile App: Operational Agility in the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83280" cy="7315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1. Mobile-First Field UX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Engineered for Mobility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Package ID: com.legacyschool.edusphere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Persistent Mobile Bottom Bar: Instant 1-tap navigation for Dashboard, Attendance, Boarding, Finance, and All Modules.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One-Handed Smartphone Ergonomics: Optimized for teachers walking classroom rows and housemasters patrolling dorms.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Ultra-Lightweight Footprint: Compact 4.1 MB binary that installs cleanly on entry-level Android smartphones.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2. Native Hardware Power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Native Device Integration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Camera Barcode/QR Scanner: Scan student ID badges for instant cafeteria meal access, bus boarding, and gate exeats.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Offline Store-and-Forward: Teachers take attendance without cellular internet; data syncs when Wi-Fi is detected.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Safe Area Insets: Native padding respecting Android status bars and gesture navigation bars.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Vibrate &amp; Audio Feedback: Confirms successful barcode scans with tactile haptic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38328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3. Over-The-Air (OTA) Delivery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Seamless Distribution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Live Production Bridge: Connects directly with https://legacyschool.lamtoninvestments.com.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Instant Zero-Reinstall Updates: New features and fee updates reflect immediately without rebuilding the APK.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Direct Server Hosting: Staff and parents download the APK directly from the school web portal.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Play Store Ready: Android App Bundle (.aab) configured for Google Play Console submission if desired.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Institutional Subscription Tiers &amp; Licensing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74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74720" cy="109728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ENTRY TIER</a:t>
            </a:r>
          </a:p>
          <a:p>
            <a:pPr>
              <a:spcAft>
                <a:spcPts val="200"/>
              </a:spcAft>
              <a:defRPr sz="1500" b="1">
                <a:solidFill>
                  <a:srgbClr val="0B2545"/>
                </a:solidFill>
              </a:defRPr>
            </a:pPr>
            <a:r>
              <a:t>Starter Academic</a:t>
            </a:r>
          </a:p>
          <a:p>
            <a:pPr>
              <a:defRPr sz="1600" b="1">
                <a:solidFill>
                  <a:srgbClr val="0B2545"/>
                </a:solidFill>
              </a:defRPr>
            </a:pPr>
            <a:r>
              <a:t>ZMW 24,000 / year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$925 / year  •  ZMW 8,000 / term</a:t>
            </a:r>
          </a:p>
          <a:p>
            <a:pPr>
              <a:spcAft>
                <a:spcPts val="600"/>
              </a:spcAft>
              <a:defRPr sz="1000" b="1">
                <a:solidFill>
                  <a:srgbClr val="134074"/>
                </a:solidFill>
              </a:defRPr>
            </a:pPr>
            <a:r>
              <a:t>Quota: Up to 350 Enrolled Learners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</a:defRPr>
            </a:pPr>
            <a:r>
              <a:t>Core modules for small single-campus primary or secondary day schools: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Operations &amp; Attendance Register (Daily roll-call, MoE Form 12A)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School Calendar &amp; Birthday Roster (Term dates, holiday tracking)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Academics &amp; ECZ Gradebook Reports (Assessments, report cards)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4747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MOST POPULAR</a:t>
            </a:r>
          </a:p>
          <a:p>
            <a:pPr>
              <a:spcAft>
                <a:spcPts val="200"/>
              </a:spcAft>
              <a:defRPr sz="1500" b="1">
                <a:solidFill>
                  <a:srgbClr val="0B2545"/>
                </a:solidFill>
              </a:defRPr>
            </a:pPr>
            <a:r>
              <a:t>Professional SMIS</a:t>
            </a:r>
          </a:p>
          <a:p>
            <a:pPr>
              <a:defRPr sz="1600" b="1">
                <a:solidFill>
                  <a:srgbClr val="0B2545"/>
                </a:solidFill>
              </a:defRPr>
            </a:pPr>
            <a:r>
              <a:t>ZMW 42,000 / year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$1,615 / year  •  ZMW 14,000 / term</a:t>
            </a:r>
          </a:p>
          <a:p>
            <a:pPr>
              <a:spcAft>
                <a:spcPts val="600"/>
              </a:spcAft>
              <a:defRPr sz="1000" b="1">
                <a:solidFill>
                  <a:srgbClr val="134074"/>
                </a:solidFill>
              </a:defRPr>
            </a:pPr>
            <a:r>
              <a:t>Quota: Up to 750 Enrolled Learners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</a:defRPr>
            </a:pPr>
            <a:r>
              <a:t>Adds Boarding, Finance Inflows, and Teacher Workspaces: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All Starter Academic Core Modules (Attendance, Calendar, Academics)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Boarding Houses &amp; Kansanshi Village (Bed allocations, 21:00 curfew, exeats)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Fees Management &amp; Expenditure Control (Mobile Money, cashbook, debtors ledger)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Teacher Workspace &amp; Lesson Plans (Syllabus pacing, pupil remarks)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34440"/>
            <a:ext cx="3474720" cy="53492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234440"/>
            <a:ext cx="347472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41732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COMPLETE SUITE • ACTIVE TIER</a:t>
            </a:r>
          </a:p>
          <a:p>
            <a:pPr>
              <a:spcAft>
                <a:spcPts val="200"/>
              </a:spcAft>
              <a:defRPr sz="1500" b="1">
                <a:solidFill>
                  <a:srgbClr val="0B2545"/>
                </a:solidFill>
              </a:defRPr>
            </a:pPr>
            <a:r>
              <a:t>Sovereign Enterprise</a:t>
            </a:r>
          </a:p>
          <a:p>
            <a:pPr>
              <a:defRPr sz="1600" b="1">
                <a:solidFill>
                  <a:srgbClr val="0B2545"/>
                </a:solidFill>
              </a:defRPr>
            </a:pPr>
            <a:r>
              <a:t>ZMW 65,000 / year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$2,500 / year  •  ZMW 21,667 / term</a:t>
            </a:r>
          </a:p>
          <a:p>
            <a:pPr>
              <a:spcAft>
                <a:spcPts val="600"/>
              </a:spcAft>
              <a:defRPr sz="1000" b="1">
                <a:solidFill>
                  <a:srgbClr val="134074"/>
                </a:solidFill>
              </a:defRPr>
            </a:pPr>
            <a:r>
              <a:t>Quota: 1,200+ Learners (Multi-Campus)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</a:defRPr>
            </a:pPr>
            <a:r>
              <a:t>Complete institutional suite deployed for Legacy School Solwezi: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All Professional SMIS Modules (Attendance, Boarding, Fees, Academics)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Staff HR &amp; Teaching Council of Zambia (TCZ) Compliance Suite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Solwezi GIS &amp; Campus Fleet Tracking (Minibus GPS telematics)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Admissions SIS &amp; Official Document Generator (Letters with QR stamp)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Parent Portal Family Center &amp; Automated WhatsApp/SMS Alerts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Fixed Asset Management &amp; Inventory Ledger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Native Android Mobile APK (com.legacyschool.edusphere)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✔ Dual-Campus Multi-Tenant Consolidation (Mushitala Day &amp; Kansanshi Boarding)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Turnkey Implementation, Smart Bus Hardware &amp; Executive ROI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657600"/>
                <a:gridCol w="1645920"/>
                <a:gridCol w="1584655"/>
              </a:tblGrid>
              <a:tr h="5617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Investment Component / Deliverable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Scope of Coverage &amp; Specifications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Year 1 (ZMW)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USD Equiv.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EduSphere Sovereign Enterprise Core (Active Tier)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Full Multi-Campus License: SIS, Finance, Academics, GIS, Boarding, HR &amp; Android APK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$ 2,500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Implementation, Historical Seeding &amp;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Data migration of 780 students, 48 staff profiles, database configuration, and backup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28,000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$ 1,075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Smart Bus Hardware (2 In-Vehicle Tablets)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2x Rugged 7-inch Android In-Bus Tablets, NFC RFID readers, GPS mounts, and 4G SIM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19,500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$ 750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Smart Student Contactless ID Cards (800 Cards)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800 Dual-Frequency MIFARE 13.56MHz + QR printed PVC student smart identification badges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16,000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$ 615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Staff Onboarding &amp; Operational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Hands-on workshops for 48 staff (Bursars, HODs, Teachers, Matrons, Drivers, and Management)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14,500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$ 560</a:t>
                      </a:r>
                    </a:p>
                  </a:txBody>
                  <a:tcPr/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TOTAL YEAR 1 CAPITAL &amp; IMPLEMENTATION INVESTMENT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Complete sovereign school digital ecosystem with full warranty, SLA support, and daily backups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K 143,000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$ 5,500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3492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Return on Investment (ROI) Justification for Executive Management &amp; Board: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1. Immediate Arrears Recovery: Automating parent Mobile Money prompts captures ~15% of the K279,000 pending fee balances within 30 days (+K41,850 recovered).</a:t>
            </a:r>
            <a:br/>
            <a:r>
              <a:t>2. Printing Cost Elimination: Eliminating physical carbon-copy paper receipts and printed report cards saves ~K22,000 annually.</a:t>
            </a:r>
            <a:br/>
            <a:r>
              <a:t>3. Fuel &amp; Route Optimization: Smart GPS route stop planning saves ~10-15% on diesel transport costs across both shuttles.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Deployment Timeline: 4-Week Fast-Track Execution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1: Sovereign Setup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Deploy Dockerized PostgreSQL &amp; Next.js engine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Configure automated nightly off-site database backups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Migrate 780 legacy learner profiles and fee balances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Finalize custom theme colors &amp; school crest branding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28016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2: Smart Bus &amp; Mobile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Procure and program 800 MIFARE NFC student ID cards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Install 2x Android in-bus GPS telematics tablets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Deploy native Android APK to staff devices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Test driver route navigation and geofenced bus stops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630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3: Staff Training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Conduct workshops for 48 staff members across cadres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Train teachers on topic test, CA, and mock exam entry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Train bursar and finance staff on cashbook vouchers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Conduct mock roll-call attendance on shuttle routes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28016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28016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4630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4: Full Cutover &amp; Go-Live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Dispatch parent SMS credentials and onboarding guide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Open Airtel &amp; MTN Mobile Money payment channels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Publish official Term 3 digital report cards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Transition to 24/7 technical monitoring &amp; SLA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66534"/>
                </a:solidFill>
              </a:defRPr>
            </a:pPr>
            <a:r>
              <a:t>Enterprise Service Level Agreement (SLA): 99.9% Uptime Guarantee  •  Daily Encrypted Off-Site Backups  •  Dedicated On-Call Technical Support for Solwezi Operations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0F2D5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9601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4AF37"/>
                </a:solidFill>
              </a:defRPr>
            </a:pPr>
            <a:r>
              <a:t>SUMMARY OF RECOMMENDATIONS FOR EXECUTIVE APPROVAL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1. Approve Sovereign SMIS Deployment: Authorize transition from manual paper to EduSphere across Mushitala and Kansanshi campuses.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2. Greenlight Smart Bus Hardware Integration: Commission in-bus Android telematics tablets and 800 NFC learner ID cards for automated boarding verification and SMS parent alerts.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3. Activate Integrated Mobile Money Gateway: Formalize Airtel &amp; MTN merchant aggregators to allow instant parent tuition settlements, reducing aged debt.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4. Deploy Native Android APK to Field Staff: Authorize rollout of com.legacyschool.edusphere for classroom roll-calls, curfew bed checks, and gate passes.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5. Authorize 4-Week Rollout Roadmap: Direct the ICT and Academic departments to commence staff training and data validation for full Term 3 operation.</a:t>
            </a:r>
          </a:p>
          <a:p>
            <a:br/>
            <a:pPr>
              <a:defRPr sz="1050" i="1">
                <a:solidFill>
                  <a:srgbClr val="CBD5E1"/>
                </a:solidFill>
              </a:defRPr>
            </a:pPr>
            <a:r>
              <a:t>Prepared with dedication for Legacy School Solwezi  •  Managing Director &amp; Principal: Mr. Emmanuel Mwansa</a:t>
            </a:r>
            <a:br/>
            <a:r>
              <a:t>'We strive for your academic and moral excellence.'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