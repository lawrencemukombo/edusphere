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0728655" cy="4846320"/>
          </a:xfrm>
          <a:prstGeom prst="roundRect">
            <a:avLst/>
          </a:prstGeom>
          <a:solidFill>
            <a:srgbClr val="0F2D52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</a:defRPr>
            </a:pPr>
            <a:r>
              <a:t>LEGACY SCHOOL SOLWEZI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EduSphere SMIS: Enterprise Stakeholder Master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601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E2E8F0"/>
                </a:solidFill>
              </a:defRPr>
            </a:pPr>
            <a:r>
              <a:t>Sovereign Multi-Campus School Management System • 2026 Term 3 Live Operational Session</a:t>
            </a:r>
            <a:br/>
            <a:r>
              <a:t>Mushitala Day Campus &amp; Kansanshi Boarding Campus • Solwezi, North-Western Province, Zambia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Presented to: School Board, Director Mr. Emmanuel Mwansa, Ministry of Education, and Key Stakeholders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Key Pillars: Zero-Loss Financial Ledger • 5-Horizon Attendance • 360° Boarding Curfew • Native Android APK • ECZ Markbooks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LEGACY SCHOOL SOLWEZI • EXECUTIVE STRATEGY &amp; TECHNOLOGY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Dual-Campus Institutional Topology &amp; Operational Realities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5212080" cy="73152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89888"/>
            <a:ext cx="49377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2545"/>
                </a:solidFill>
              </a:defRPr>
            </a:pPr>
            <a:r>
              <a:t>Mushitala Day Campus (Solwezi Urban)</a:t>
            </a:r>
          </a:p>
          <a:p>
            <a:pPr>
              <a:spcAft>
                <a:spcPts val="600"/>
              </a:spcAft>
              <a:defRPr sz="850">
                <a:solidFill>
                  <a:srgbClr val="64748B"/>
                </a:solidFill>
              </a:defRPr>
            </a:pPr>
            <a:r>
              <a:t>Day School Focus • High Density Transit • Early Childhood to Grade 9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Student Body: 520+ Day Scholars spanning ECE, Primary, and Junior Secondary.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Transit Dynamics: 4 bus transport routes navigating morning/afternoon traffic across Solwezi.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Operational Priorities: Rapid morning roll-call, contactless student ID bus boarding, tuition fee collection.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Community Engagement: Direct parent communication via SMS and WhatsApp-compatible gateway.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389888"/>
            <a:ext cx="49377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2545"/>
                </a:solidFill>
              </a:defRPr>
            </a:pPr>
            <a:r>
              <a:t>Kansanshi Boarding Campus (Residential)</a:t>
            </a:r>
          </a:p>
          <a:p>
            <a:pPr>
              <a:spcAft>
                <a:spcPts val="600"/>
              </a:spcAft>
              <a:defRPr sz="850">
                <a:solidFill>
                  <a:srgbClr val="64748B"/>
                </a:solidFill>
              </a:defRPr>
            </a:pPr>
            <a:r>
              <a:t>Residential Safeguarding • 24/7 Pastoral Care • Senior Secondary &amp; ECZ Centre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Student Body: 280+ Full Residential Boarders &amp; Senior Secondary Scholars.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Safeguarding Priorities: 21:00 CAT nightly curfew check, dormitory cubicle allocations, medical exeat governance.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Academic Rigor: Official ECZ Grade 12 National Examination Centre with computerized clearance locks.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Catering &amp; Logistics: Automated meal rations linked to live resident headcounts to prevent food waste.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LEGACY SCHOOL SOLWEZI • EXECUTIVE STRATEGY &amp; TECHNOLOGY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Sovereign Architecture: Security, RBAC &amp; Zero Vendor Lock-in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3383280" cy="7315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89888"/>
            <a:ext cx="3108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2545"/>
                </a:solidFill>
              </a:defRPr>
            </a:pPr>
            <a:r>
              <a:t>1. Strict RBAC Governance</a:t>
            </a:r>
          </a:p>
          <a:p>
            <a:pPr>
              <a:spcAft>
                <a:spcPts val="600"/>
              </a:spcAft>
              <a:defRPr sz="850">
                <a:solidFill>
                  <a:srgbClr val="64748B"/>
                </a:solidFill>
              </a:defRPr>
            </a:pPr>
            <a:r>
              <a:t>Role-Based Security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10 Distinct User Roles: Director, Headteacher, Bursar, Teacher, Boarding Master, Matron, Parent, Auditor.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Zero Privilege Bleed: Teachers cannot access financial ledgers; parents only see their verified biological children.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2FA Protected Ledger: All bursary journal entries and fee adjustments require secondary authorization.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280160"/>
            <a:ext cx="3383280" cy="73152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389888"/>
            <a:ext cx="3108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2545"/>
                </a:solidFill>
              </a:defRPr>
            </a:pPr>
            <a:r>
              <a:t>2. Zero Data Loss &amp; UPSERT</a:t>
            </a:r>
          </a:p>
          <a:p>
            <a:pPr>
              <a:spcAft>
                <a:spcPts val="600"/>
              </a:spcAft>
              <a:defRPr sz="850">
                <a:solidFill>
                  <a:srgbClr val="64748B"/>
                </a:solidFill>
              </a:defRPr>
            </a:pPr>
            <a:r>
              <a:t>Data Safety &amp; Integrity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Strict Upsert-Only Architecture: Existing production records are never wiped or overwritten destructively.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Immutable Audit Logging: Every attendance modification, score change, and payment transaction is logged.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Disaster Recovery Engine: Automated nightly database snapshots with one-click restore validation.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8016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280160"/>
            <a:ext cx="338328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389888"/>
            <a:ext cx="3108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2545"/>
                </a:solidFill>
              </a:defRPr>
            </a:pPr>
            <a:r>
              <a:t>3. Offline-First Resilience</a:t>
            </a:r>
          </a:p>
          <a:p>
            <a:pPr>
              <a:spcAft>
                <a:spcPts val="600"/>
              </a:spcAft>
              <a:defRPr sz="850">
                <a:solidFill>
                  <a:srgbClr val="64748B"/>
                </a:solidFill>
              </a:defRPr>
            </a:pPr>
            <a:r>
              <a:t>Sovereign Control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Zero-Downtime Classroom Mode: Roll-call functions smoothly when Solwezi telecom cellular towers experience drops.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Background Synchronization: Data is stored in secure local storage and syncs automatically once back online.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No Cloud Dependency Lock-in: Can run on local campus servers or dedicated VPS instances.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LEGACY SCHOOL SOLWEZI • EXECUTIVE STRATEGY &amp; TECHNOLOGY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Financial Architecture: Automated Revenue Recovery &amp; Ledger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3383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89888"/>
            <a:ext cx="3108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2545"/>
                </a:solidFill>
              </a:defRPr>
            </a:pPr>
            <a:r>
              <a:t>Tuition &amp; Boarding Invoicing</a:t>
            </a:r>
          </a:p>
          <a:p>
            <a:pPr>
              <a:spcAft>
                <a:spcPts val="600"/>
              </a:spcAft>
              <a:defRPr sz="850">
                <a:solidFill>
                  <a:srgbClr val="64748B"/>
                </a:solidFill>
              </a:defRPr>
            </a:pPr>
            <a:r>
              <a:t>Revenue Capture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Termly Batch Invoicing: Automatically generates tuition, boarding levy, PTA, and computer lab invoices.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Intelligent Sibling Discounts: Automatically recognizes multi-child families to apply accurate bursary policies.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Aged Debtors Intelligence: Categorizes arrears into 30, 60, and 90+ day chronic delinquency with automated reminders.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280160"/>
            <a:ext cx="3383280" cy="73152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389888"/>
            <a:ext cx="3108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2545"/>
                </a:solidFill>
              </a:defRPr>
            </a:pPr>
            <a:r>
              <a:t>Mobile Money Reconciliation</a:t>
            </a:r>
          </a:p>
          <a:p>
            <a:pPr>
              <a:spcAft>
                <a:spcPts val="600"/>
              </a:spcAft>
              <a:defRPr sz="850">
                <a:solidFill>
                  <a:srgbClr val="64748B"/>
                </a:solidFill>
              </a:defRPr>
            </a:pPr>
            <a:r>
              <a:t>Zambian Fintech Integration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Instant Airtel Money &amp; MTN MoMo Integration: Parents settle fees directly via mobile handsets.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Automated Reference Matching: Real-time clearing of invoices without manual bank slip verification.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Tamper-Evident Digital Receipts: Instant SMS receipt dispatched to parent phone upon settlement.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8016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280160"/>
            <a:ext cx="3383280" cy="7315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389888"/>
            <a:ext cx="3108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2545"/>
                </a:solidFill>
              </a:defRPr>
            </a:pPr>
            <a:r>
              <a:t>Double-Entry General Ledger</a:t>
            </a:r>
          </a:p>
          <a:p>
            <a:pPr>
              <a:spcAft>
                <a:spcPts val="600"/>
              </a:spcAft>
              <a:defRPr sz="850">
                <a:solidFill>
                  <a:srgbClr val="64748B"/>
                </a:solidFill>
              </a:defRPr>
            </a:pPr>
            <a:r>
              <a:t>Statutory Audit Readiness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100% Reconciled Financials: Complete chart of accounts mapping income vs operational expenditures.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Expenditure Tracking: Authorizations for boarding rations, diesel fuel, teacher salaries, and facility repairs.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Auditor-Ready Statements: Formatted Income &amp; Expenditure Statements exportable to Excel and PDF.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LEGACY SCHOOL SOLWEZI • EXECUTIVE STRATEGY &amp; TECHNOLOGY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Academic Engine: ECZ Markbooks &amp; Terminal Report Cards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5212080" cy="7315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89888"/>
            <a:ext cx="49377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2545"/>
                </a:solidFill>
              </a:defRPr>
            </a:pPr>
            <a:r>
              <a:t>Curriculum &amp; Grading Automation</a:t>
            </a:r>
          </a:p>
          <a:p>
            <a:pPr>
              <a:spcAft>
                <a:spcPts val="600"/>
              </a:spcAft>
              <a:defRPr sz="850">
                <a:solidFill>
                  <a:srgbClr val="64748B"/>
                </a:solidFill>
              </a:defRPr>
            </a:pPr>
            <a:r>
              <a:t>National Curriculum Standards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Examinations Council of Zambia (ECZ) 8-Scale: Built-in distinction (1-2), merit (3-4), credit (5-6), pass (7-8), fail (9).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Continuous Assessment (CA): Weighting of CA1, CA2, midterm mocks, and end-of-term examinations.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ECE Developmental Rubrics: Multi-domain observation tools for nursery and kindergarten cognitive growth.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Automated Subject Ranking &amp; Cohort Analysis: Pinpoints underperforming academic subjects for prompt intervention.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21208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389888"/>
            <a:ext cx="49377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2545"/>
                </a:solidFill>
              </a:defRPr>
            </a:pPr>
            <a:r>
              <a:t>Official Report Cards &amp; Exam Clearance</a:t>
            </a:r>
          </a:p>
          <a:p>
            <a:pPr>
              <a:spcAft>
                <a:spcPts val="600"/>
              </a:spcAft>
              <a:defRPr sz="850">
                <a:solidFill>
                  <a:srgbClr val="64748B"/>
                </a:solidFill>
              </a:defRPr>
            </a:pPr>
            <a:r>
              <a:t>Tamper-Proof Certification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1-Click Batch Terminal Reports: High-resolution PDF generation with school crest, grading legend, and teacher remarks.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Digital Security Stamp: Includes anti-fraud QR code linking back to sovereign institutional verification portal.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ECZ Candidate Clearance Lock: Automatically verifies student has achieved 75% attendance and 100% fee clearance before exam issuance.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Parent Portal Publishing: Headteacher approves reports online for instant guardian download.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LEGACY SCHOOL SOLWEZI • EXECUTIVE STRATEGY &amp; TECHNOLOGY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360° Boarding House Management: Pastoral Care &amp; Curfews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3383280" cy="73152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89888"/>
            <a:ext cx="3108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2545"/>
                </a:solidFill>
              </a:defRPr>
            </a:pPr>
            <a:r>
              <a:t>Hostel &amp; Bed Allocation</a:t>
            </a:r>
          </a:p>
          <a:p>
            <a:pPr>
              <a:spcAft>
                <a:spcPts val="600"/>
              </a:spcAft>
              <a:defRPr sz="850">
                <a:solidFill>
                  <a:srgbClr val="64748B"/>
                </a:solidFill>
              </a:defRPr>
            </a:pPr>
            <a:r>
              <a:t>Hostel Inventory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Visual Room &amp; Bed Mapping: Tracks occupancy across boys' and girls' residential blocks at Kansanshi Campus.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Safeguarding Segregation: Junior vs. Senior dorm separation enforced by system rules.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Capacity Planning: Prevents over-enrolment beyond certified health board hostel allowances.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280160"/>
            <a:ext cx="3383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389888"/>
            <a:ext cx="3108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2545"/>
                </a:solidFill>
              </a:defRPr>
            </a:pPr>
            <a:r>
              <a:t>21:00 Curfew Roll-Call</a:t>
            </a:r>
          </a:p>
          <a:p>
            <a:pPr>
              <a:spcAft>
                <a:spcPts val="600"/>
              </a:spcAft>
              <a:defRPr sz="850">
                <a:solidFill>
                  <a:srgbClr val="64748B"/>
                </a:solidFill>
              </a:defRPr>
            </a:pPr>
            <a:r>
              <a:t>Nightly Safeguarding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Digital Nightly Bed Check: Housemasters conduct roll-call via mobile Android phone at each bed cubicle.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Instant Absentee Escalation: Any missing pupil triggers an urgent red alert on the Director's phone.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Historical Curfew Logs: Identifies repeat violators for pastoral counselling.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8016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280160"/>
            <a:ext cx="338328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389888"/>
            <a:ext cx="3108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2545"/>
                </a:solidFill>
              </a:defRPr>
            </a:pPr>
            <a:r>
              <a:t>Exeat &amp; Gate Pass Governance</a:t>
            </a:r>
          </a:p>
          <a:p>
            <a:pPr>
              <a:spcAft>
                <a:spcPts val="600"/>
              </a:spcAft>
              <a:defRPr sz="850">
                <a:solidFill>
                  <a:srgbClr val="64748B"/>
                </a:solidFill>
              </a:defRPr>
            </a:pPr>
            <a:r>
              <a:t>Perimeter Security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Tri-Party Approval: Parent phone request -&gt; Housemaster endorsement -&gt; Security gate clearance.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Medical vs. Weekend Exeats: Tracks medical referral to Solwezi General Hospital vs family weekend leave.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Gatehouse QR Scanning: Kansanshi main security gate scans pass on phone before barrier release.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LEGACY SCHOOL SOLWEZI • EXECUTIVE STRATEGY &amp; TECHNOLOGY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Multi-Horizon Attendance Matrix: From Daily Roll-Call to Annual Return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6060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2606040" cy="109728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2331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2545"/>
                </a:solidFill>
              </a:defRPr>
            </a:pPr>
            <a:r>
              <a:t>Daily Horizon</a:t>
            </a:r>
          </a:p>
          <a:p>
            <a:pPr>
              <a:spcAft>
                <a:spcPts val="1000"/>
              </a:spcAft>
              <a:defRPr sz="900">
                <a:solidFill>
                  <a:srgbClr val="134074"/>
                </a:solidFill>
              </a:defRPr>
            </a:pPr>
            <a:r>
              <a:t>Morning Roll-Call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1-Tap 'Mark All Present' with late minute tracking and excuse categorization. Dispatches SMS alerts to guardians.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371600"/>
            <a:ext cx="26060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371600"/>
            <a:ext cx="260604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554480"/>
            <a:ext cx="2331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2545"/>
                </a:solidFill>
              </a:defRPr>
            </a:pPr>
            <a:r>
              <a:t>Weekly Horizon</a:t>
            </a:r>
          </a:p>
          <a:p>
            <a:pPr>
              <a:spcAft>
                <a:spcPts val="1000"/>
              </a:spcAft>
              <a:defRPr sz="900">
                <a:solidFill>
                  <a:srgbClr val="10B981"/>
                </a:solidFill>
              </a:defRPr>
            </a:pPr>
            <a:r>
              <a:t>Instructional Progression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Tracks attendance stability across W1 to W13 of Term 3. Visualizes cohort retention fluctuations.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71600"/>
            <a:ext cx="26060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371600"/>
            <a:ext cx="2606040" cy="109728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554480"/>
            <a:ext cx="2331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2545"/>
                </a:solidFill>
              </a:defRPr>
            </a:pPr>
            <a:r>
              <a:t>Monthly Horizon</a:t>
            </a:r>
          </a:p>
          <a:p>
            <a:pPr>
              <a:spcAft>
                <a:spcPts val="1000"/>
              </a:spcAft>
              <a:defRPr sz="900">
                <a:solidFill>
                  <a:srgbClr val="0B2545"/>
                </a:solidFill>
              </a:defRPr>
            </a:pPr>
            <a:r>
              <a:t>Academic Register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31-Day statutory sheet matching Ministry of Education classroom registers for all 12 calendar months.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371600"/>
            <a:ext cx="26060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23960" y="1371600"/>
            <a:ext cx="2606040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554480"/>
            <a:ext cx="2331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2545"/>
                </a:solidFill>
              </a:defRPr>
            </a:pPr>
            <a:r>
              <a:t>Termly &amp; Annual</a:t>
            </a:r>
          </a:p>
          <a:p>
            <a:pPr>
              <a:spcAft>
                <a:spcPts val="1000"/>
              </a:spcAft>
              <a:defRPr sz="900">
                <a:solidFill>
                  <a:srgbClr val="D4AF37"/>
                </a:solidFill>
              </a:defRPr>
            </a:pPr>
            <a:r>
              <a:t>Statutory Return &amp; ECZ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Aggregates 187 annual instructional days. Computes official DEBS statistical returns and student progression standing.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LEGACY SCHOOL SOLWEZI • EXECUTIVE STRATEGY &amp; TECHNOLOGY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Official Document Generator: Letters, Badges &amp; Verification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5212080" cy="7315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89888"/>
            <a:ext cx="49377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2545"/>
                </a:solidFill>
              </a:defRPr>
            </a:pPr>
            <a:r>
              <a:t>Suite of Standardized Institutional Letters</a:t>
            </a:r>
          </a:p>
          <a:p>
            <a:pPr>
              <a:spcAft>
                <a:spcPts val="600"/>
              </a:spcAft>
              <a:defRPr sz="850">
                <a:solidFill>
                  <a:srgbClr val="64748B"/>
                </a:solidFill>
              </a:defRPr>
            </a:pPr>
            <a:r>
              <a:t>Institutional Integrity • Standardized Branding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Provisional Admission Offer Letter: Formally communicates placement terms, requirements, and fee deadlines.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Official Acceptance Letter: Confirms verified enrolment for the academic year.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Introduction &amp; Visa Letters: Standardized correspondence for Ministry, immigration, and commercial bank sponsorship.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ECZ Examination Clearance: Formal certificate confirming student has met academic and financial benchmarks.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Boarding House Accommodation Notice: Confirms dormitory room, cubicle, and assigned housemaster.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21208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389888"/>
            <a:ext cx="49377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2545"/>
                </a:solidFill>
              </a:defRPr>
            </a:pPr>
            <a:r>
              <a:t>Security Features &amp; Verification Architecture</a:t>
            </a:r>
          </a:p>
          <a:p>
            <a:pPr>
              <a:spcAft>
                <a:spcPts val="600"/>
              </a:spcAft>
              <a:defRPr sz="850">
                <a:solidFill>
                  <a:srgbClr val="64748B"/>
                </a:solidFill>
              </a:defRPr>
            </a:pPr>
            <a:r>
              <a:t>Anti-Fraud Safeguards • Digital QR Verification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High-Definition Legacy Crest: Crisp, authentic school emblem rendering on all official printouts.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Dynamic Verification QR Code: Instantly verifiable by scanning with any smartphone camera.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Authorized Signatory Metadata: Pre-configured signatures of Director Mr. Emmanuel Mwansa and Registrar.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Tamper-Evident Security Stamp: Includes official school registration numbers (MOE/NWP/SOL/SEC/2026/044).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LEGACY SCHOOL SOLWEZI • EXECUTIVE STRATEGY &amp; TECHNOLOGY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Multi-Campus GIS &amp; Smart Transport Telematics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5212080" cy="73152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89888"/>
            <a:ext cx="49377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2545"/>
                </a:solidFill>
              </a:defRPr>
            </a:pPr>
            <a:r>
              <a:t>Geospatial Intelligence &amp; Catchment Mapping</a:t>
            </a:r>
          </a:p>
          <a:p>
            <a:pPr>
              <a:spcAft>
                <a:spcPts val="600"/>
              </a:spcAft>
              <a:defRPr sz="850">
                <a:solidFill>
                  <a:srgbClr val="64748B"/>
                </a:solidFill>
              </a:defRPr>
            </a:pPr>
            <a:r>
              <a:t>Spatial Campus Analytics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Dual-Campus Mapping: Pinpoints Mushitala Day Campus (-12.184° S, 26.398° E) and Kansanshi Campus (-12.132° S, 26.415° E).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Student Demographic Heatmaps: Visualizes student residential distribution across Solwezi to plan new bus stops.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Zoning &amp; Commute Analytics: Identifies day scholars walking excessive distances for transport support.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389888"/>
            <a:ext cx="49377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2545"/>
                </a:solidFill>
              </a:defRPr>
            </a:pPr>
            <a:r>
              <a:t>Contactless Smart Bus Boarding</a:t>
            </a:r>
          </a:p>
          <a:p>
            <a:pPr>
              <a:spcAft>
                <a:spcPts val="600"/>
              </a:spcAft>
              <a:defRPr sz="850">
                <a:solidFill>
                  <a:srgbClr val="64748B"/>
                </a:solidFill>
              </a:defRPr>
            </a:pPr>
            <a:r>
              <a:t>Student Transit Safeguarding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In-Bus Tablet Driver App: Drivers and bus conductors record student boarding at designated pickup points.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Automated Guardian SMS Notifications: Parents receive instant alerts when their child safely boards or alights.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Fleet Fuel &amp; Maintenance Ledger: Logs fuel consumption and servicing intervals for all school minibuses and coasters.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LEGACY SCHOOL SOLWEZI • EXECUTIVE STRATEGY &amp; TECHNOLOGY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Parent Portal: Modern Guardian Engagement &amp; Transparency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3383280" cy="73152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89888"/>
            <a:ext cx="3108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2545"/>
                </a:solidFill>
              </a:defRPr>
            </a:pPr>
            <a:r>
              <a:t>Unified Family Dashboard</a:t>
            </a:r>
          </a:p>
          <a:p>
            <a:pPr>
              <a:spcAft>
                <a:spcPts val="600"/>
              </a:spcAft>
              <a:defRPr sz="850">
                <a:solidFill>
                  <a:srgbClr val="64748B"/>
                </a:solidFill>
              </a:defRPr>
            </a:pPr>
            <a:r>
              <a:t>Single-Pane Guardian View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Multi-Child Single Login: Parents with siblings in ECE, Primary, and Secondary view all accounts in one view.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Real-Time Attendance Feed: Know instantly if a child is marked late or absent during morning roll-call.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Behavior &amp; Pastoral Notes: Direct communication on commendations, sports achievements, or discipline.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280160"/>
            <a:ext cx="3383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389888"/>
            <a:ext cx="3108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2545"/>
                </a:solidFill>
              </a:defRPr>
            </a:pPr>
            <a:r>
              <a:t>Frictionless Fee Payments</a:t>
            </a:r>
          </a:p>
          <a:p>
            <a:pPr>
              <a:spcAft>
                <a:spcPts val="600"/>
              </a:spcAft>
              <a:defRPr sz="850">
                <a:solidFill>
                  <a:srgbClr val="64748B"/>
                </a:solidFill>
              </a:defRPr>
            </a:pPr>
            <a:r>
              <a:t>Revenue Acceleration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Itemized Tuition Statements: Complete breakdown of tuition, boarding, uniforms, and book charges.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1-Tap Mobile Money Checkout: Pay directly with Airtel Money or MTN MoMo from the handset.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Instant Digital Receipts: Downloadable receipts for employer bursary reimbursement.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8016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280160"/>
            <a:ext cx="338328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389888"/>
            <a:ext cx="3108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2545"/>
                </a:solidFill>
              </a:defRPr>
            </a:pPr>
            <a:r>
              <a:t>Academic Progress &amp; Reports</a:t>
            </a:r>
          </a:p>
          <a:p>
            <a:pPr>
              <a:spcAft>
                <a:spcPts val="600"/>
              </a:spcAft>
              <a:defRPr sz="850">
                <a:solidFill>
                  <a:srgbClr val="64748B"/>
                </a:solidFill>
              </a:defRPr>
            </a:pPr>
            <a:r>
              <a:t>Academic Transparency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Continuous Assessment Tracker: Monitor performance throughout the term rather than waiting for term end.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Terminal Report Card Download: High-resolution PDF reports accessible immediately upon headteacher release.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Teacher Meeting Scheduling: Seamless booking of parent-teacher consultation sessions.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LEGACY SCHOOL SOLWEZI • EXECUTIVE STRATEGY &amp; TECHNOLOGY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Native Android App (APK): Operational Agility in the Field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3383280" cy="7315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89888"/>
            <a:ext cx="3108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2545"/>
                </a:solidFill>
              </a:defRPr>
            </a:pPr>
            <a:r>
              <a:t>1. Mobile-First Field UX</a:t>
            </a:r>
          </a:p>
          <a:p>
            <a:pPr>
              <a:spcAft>
                <a:spcPts val="600"/>
              </a:spcAft>
              <a:defRPr sz="850">
                <a:solidFill>
                  <a:srgbClr val="64748B"/>
                </a:solidFill>
              </a:defRPr>
            </a:pPr>
            <a:r>
              <a:t>Engineered for Mobility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Package ID: com.legacyschool.edusphere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Persistent Mobile Bottom Bar: 1-tap navigation for Dashboard, Attendance, Boarding, Finance, and All Modules.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One-Handed Smartphone Operation: Tailored for teachers walking classroom rows and housemasters patrolling dorms.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280160"/>
            <a:ext cx="3383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389888"/>
            <a:ext cx="3108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2545"/>
                </a:solidFill>
              </a:defRPr>
            </a:pPr>
            <a:r>
              <a:t>2. Hardware Integrations</a:t>
            </a:r>
          </a:p>
          <a:p>
            <a:pPr>
              <a:spcAft>
                <a:spcPts val="600"/>
              </a:spcAft>
              <a:defRPr sz="850">
                <a:solidFill>
                  <a:srgbClr val="64748B"/>
                </a:solidFill>
              </a:defRPr>
            </a:pPr>
            <a:r>
              <a:t>Native Device Power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Camera Barcode/QR Scanner: Scan student ID badges for instant cafeteria meal access, bus boarding, and gate exeats.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Safe Area &amp; Touch Optimizations: Built to adhere to modern Android status and navigation bar gesture ergonomics.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Lightweight APK Footprint: Compact 4.1 MB binary that installs cleanly on entry-level Android smartphones.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8016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280160"/>
            <a:ext cx="338328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389888"/>
            <a:ext cx="3108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2545"/>
                </a:solidFill>
              </a:defRPr>
            </a:pPr>
            <a:r>
              <a:t>3. Over-The-Air (OTA) Updates</a:t>
            </a:r>
          </a:p>
          <a:p>
            <a:pPr>
              <a:spcAft>
                <a:spcPts val="600"/>
              </a:spcAft>
              <a:defRPr sz="850">
                <a:solidFill>
                  <a:srgbClr val="64748B"/>
                </a:solidFill>
              </a:defRPr>
            </a:pPr>
            <a:r>
              <a:t>Continuous Delivery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Live Production Bridge: Configured to sync seamlessly with https://legacyschool.lamtoninvestments.com.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Zero Maintenance Friction: Feature enhancements reflect instantly in the app without requiring manual APK reinstallation.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Direct Portal Download: Hosted on the school web server for easy distribution to staff and parents.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LEGACY SCHOOL SOLWEZI • EXECUTIVE STRATEGY &amp; TECHNOLOGY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Statutory Compliance: Ministry of Education &amp; Regulatory Alignment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3383280" cy="7315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89888"/>
            <a:ext cx="3108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2545"/>
                </a:solidFill>
              </a:defRPr>
            </a:pPr>
            <a:r>
              <a:t>Ministry of Education Form 12A</a:t>
            </a:r>
          </a:p>
          <a:p>
            <a:pPr>
              <a:spcAft>
                <a:spcPts val="600"/>
              </a:spcAft>
              <a:defRPr sz="850">
                <a:solidFill>
                  <a:srgbClr val="64748B"/>
                </a:solidFill>
              </a:defRPr>
            </a:pPr>
            <a:r>
              <a:t>DEBS Solwezi Compliance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Statutory Statistical Return: Pre-aggregates learner headcounts by gender, age, and grade cohort.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Teacher-Pupil Ratio Compliance: Generates statutory staffing returns for District Education Board Secretary (DEBS).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Infrastructure Audit: Reports classroom capacity, boarding bed density, and sanitation facilities.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280160"/>
            <a:ext cx="3383280" cy="73152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389888"/>
            <a:ext cx="3108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2545"/>
                </a:solidFill>
              </a:defRPr>
            </a:pPr>
            <a:r>
              <a:t>ECZ National Examination Centre</a:t>
            </a:r>
          </a:p>
          <a:p>
            <a:pPr>
              <a:spcAft>
                <a:spcPts val="600"/>
              </a:spcAft>
              <a:defRPr sz="850">
                <a:solidFill>
                  <a:srgbClr val="64748B"/>
                </a:solidFill>
              </a:defRPr>
            </a:pPr>
            <a:r>
              <a:t>Examinations Council of Zambia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Candidate Eligibility Gatekeeper: Ensures candidates satisfy the mandatory 75% attendance threshold.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Financial Clearance Lock: Prevents issuance of exam numbers to delinquent accounts while honoring bursaries.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Syllabus Coverage Tracking: Confirms completion of national secondary curriculum requirements.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8016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280160"/>
            <a:ext cx="3383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389888"/>
            <a:ext cx="3108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2545"/>
                </a:solidFill>
              </a:defRPr>
            </a:pPr>
            <a:r>
              <a:t>Teaching Council Governance</a:t>
            </a:r>
          </a:p>
          <a:p>
            <a:pPr>
              <a:spcAft>
                <a:spcPts val="600"/>
              </a:spcAft>
              <a:defRPr sz="850">
                <a:solidFill>
                  <a:srgbClr val="64748B"/>
                </a:solidFill>
              </a:defRPr>
            </a:pPr>
            <a:r>
              <a:t>Teaching Council of Zambia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TCZ Registration Tracking: Logs teacher registration numbers and practising certificate validity.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Automated Expiry Warnings: Alerts administration 60 days before a teacher's practising license expires.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Staff Professional Development: Records continuous professional development (CPD) modules.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F37"/>
                </a:solidFill>
              </a:defRPr>
            </a:pPr>
            <a:r>
              <a:t>LEGACY SCHOOL SOLWEZI • EXECUTIVE STRATEGY &amp; TECHNOLOGY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Operational Roadmap &amp; Enterprise Service Level Agreement (SLA)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60604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2606040" cy="91440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2331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B2545"/>
                </a:solidFill>
              </a:defRPr>
            </a:pPr>
            <a:r>
              <a:t>Week 1: Core Setup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Configure staff roles &amp; RBAC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Import existing student biodata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Initialize 2026 Term 3 ledgers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Deploy Android APK to leadership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371600"/>
            <a:ext cx="260604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371600"/>
            <a:ext cx="2606040" cy="91440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554480"/>
            <a:ext cx="2331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B2545"/>
                </a:solidFill>
              </a:defRPr>
            </a:pPr>
            <a:r>
              <a:t>Week 2: Staff Training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Teacher roll-call workshops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Housemaster curfew training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Bursary mobile money testing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Bus telematics route dry-runs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71600"/>
            <a:ext cx="260604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371600"/>
            <a:ext cx="2606040" cy="91440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554480"/>
            <a:ext cx="2331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B2545"/>
                </a:solidFill>
              </a:defRPr>
            </a:pPr>
            <a:r>
              <a:t>Week 3: Guardian Launch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SMS onboarding to parents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Parent portal login release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Airtel/MTN payment activation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Student ID card distribution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371600"/>
            <a:ext cx="260604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23960" y="1371600"/>
            <a:ext cx="2606040" cy="91440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554480"/>
            <a:ext cx="2331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B2545"/>
                </a:solidFill>
              </a:defRPr>
            </a:pPr>
            <a:r>
              <a:t>Week 4: Full Cutover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Decommission paper registers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Automate daily absentee SMS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Publish mid-term markbooks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✔ First DEBS statutory return audit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486400"/>
            <a:ext cx="10728655" cy="91440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53212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66534"/>
                </a:solidFill>
              </a:defRPr>
            </a:pPr>
            <a:r>
              <a:t>Enterprise Service Level Agreement (SLA): 99.9% Uptime Guarantee • Automated Nightly Encrypted Backups • Dedicated On-Site Technical Support for Solwezi Multi-Campus Operations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0F2D52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280160"/>
            <a:ext cx="9601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D4AF37"/>
                </a:solidFill>
              </a:defRPr>
            </a:pPr>
            <a:r>
              <a:t>EXECUTIVE RECOMMENDATIONS FOR STAKEHOLDER &amp; BOARD APPROVAL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</a:defRPr>
            </a:pPr>
            <a:r>
              <a:t>1. Authorize Sovereign Multi-Campus SMIS Adoption: Formally approve EduSphere as the sole official operational platform across Mushitala Day and Kansanshi Boarding campuses.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</a:defRPr>
            </a:pPr>
            <a:r>
              <a:t>2. Approve Native Android APK Deployment: Authorize distribution of the com.legacyschool.edusphere mobile application to all teachers, boarding masters, and parents.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</a:defRPr>
            </a:pPr>
            <a:r>
              <a:t>3. Mandate Digital Official Letters: Adopt the automated official document generator with QR verification stamps for all acceptance, offer, and introduction correspondence.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</a:defRPr>
            </a:pPr>
            <a:r>
              <a:t>4. Institutionalize Mobile Money Invoicing: Formally activate integrated Airtel Money and MTN MoMo collection channels to accelerate fee clearance and eliminate unrecorded cash transactions.</a:t>
            </a:r>
          </a:p>
          <a:p>
            <a:pPr>
              <a:spcAft>
                <a:spcPts val="800"/>
              </a:spcAft>
              <a:defRPr sz="1100" b="1">
                <a:solidFill>
                  <a:srgbClr val="FFFFFF"/>
                </a:solidFill>
              </a:defRPr>
            </a:pPr>
            <a:r>
              <a:t>5. Commit to 4-Week Full Cutover Roadmap: Direct the Academic, Finance, and ICT leadership to complete staff onboarding for full Term 3 operational excellence.</a:t>
            </a:r>
          </a:p>
          <a:p>
            <a:br/>
            <a:pPr>
              <a:defRPr sz="1100" i="1">
                <a:solidFill>
                  <a:srgbClr val="CBD5E1"/>
                </a:solidFill>
              </a:defRPr>
            </a:pPr>
            <a:r>
              <a:t>Prepared for Legacy School Solwezi • Office of the School Director &amp; Principal, Mr. Emmanuel Mwansa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