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LEGACY SCHOOL SOLWEZI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EduSphere SMIS: Enterprise Sovereign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</a:defRPr>
            </a:pPr>
            <a:r>
              <a:t>Comprehensive Multi-Campus Management, Automated Revenue Recovery, ECZ Academic Markbooks, 360° Boarding Safeguarding &amp; Smart Transport Network with Contactless ID Card Boarding.</a:t>
            </a:r>
          </a:p>
          <a:p>
            <a:pPr>
              <a:defRPr sz="1200" b="1">
                <a:solidFill>
                  <a:srgbClr val="D4AF37"/>
                </a:solidFill>
              </a:defRPr>
            </a:pPr>
            <a:r>
              <a:t>Tailored for the Board of Directors, Managing Director &amp; Principal: Mr. Emmanuel Mwansa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Date: 18th October 2026  •  Campus Locations: Mushitala (Secondary/Boarding) &amp; Urban (ECE/Primary Day)  •  Solwezi, Zambia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Strategic Summary: Moving from Manual Risk to Automated Sovereignty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293B"/>
                </a:solidFill>
              </a:defRPr>
            </a:pPr>
            <a:r>
              <a:t>Operational Fragmentation &amp; Leakage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Traditional paper-based fee receipts, manual marksheets, and dispersed logbooks created administrative delays, reconciliatory blind spots, and parental anxiety across both Solwezi campuses.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474720" cy="109728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293B"/>
                </a:solidFill>
              </a:defRPr>
            </a:pPr>
            <a:r>
              <a:t>Unified Multi-Campus Orchestration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EduSphere connects Mushitala Secondary (420 pupils, boarding) and Urban Primary (360 pupils, day) into one synchronized general ledger, single-login dashboard, and ECZ grading standard.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371600"/>
            <a:ext cx="34747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4592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293B"/>
                </a:solidFill>
              </a:defRPr>
            </a:pPr>
            <a:r>
              <a:t>Measurable Revenue &amp; Safeguarding ROI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Eliminates ~K279k in aged debtor arrears via direct Mobile Money/Zanaco billing, prevents unverified boarding, and automates real-time SMS alerts when learners tap their ID cards onto school buses.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Institutional Scale Overview: 780 Active Learners  •  48 Professional Staff  •  16 Class Cohorts  •  2 Buses (62 Transport Seats)  •  350 Boarding Beds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Multi-Campus Spatial Network &amp; Inter-Branch Distance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B2545"/>
                </a:solidFill>
              </a:defRPr>
            </a:pPr>
            <a:r>
              <a:t>Sovereign GIS &amp; Spatial Logistics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EduSphere embeds high-resolution satellite cartography to calculate exact Haversine distances, catchment feeder zones (21.0 km corridor), and transit buffer times between school centers: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Mushitala Main Campus: Secondary &amp; Boarding wing, Plot 889 Kansanshi Mine Road (Capacity: 650, Enrolled: 420).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Urban Campus Central: ECE &amp; Primary Day School, Solwezi Town Corridor (Capacity: 450, Enrolled: 360).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Pairwise Transit Distance: 3.80 km road distance (~7 mins drive time), facilitating seamless inter-campus shuttle connections.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Catchment Compliance: Auto-resolves applicant coordinates to determine nearest feeder branch during student enrollment.</a:t>
            </a:r>
          </a:p>
        </p:txBody>
      </p:sp>
      <p:pic>
        <p:nvPicPr>
          <p:cNvPr id="7" name="Picture 6" descr="Screenshot 2026-10-18 10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3646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Smart Transport: Live Shuttle Tracking &amp; Contactless Learner ID Card 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389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B2545"/>
                </a:solidFill>
              </a:defRPr>
            </a:pPr>
            <a:r>
              <a:t>Learner ID Card Bus Check-in: Technical Advisory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Dual NFC / QR Student ID Cards: Learners carry durable PVC smart cards with embedded MIFARE 13.56MHz NFC chips and 2D QR fallback codes.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In-Bus Telematics Tablet: Mounted 7-inch rugged Android tablet with 4G LTE and GPS validates card taps in under 0.3 seconds.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Instant Parent SMS Alert: '[EduSphere] Bupe Mwewa boarded BUS-SOL-02 at Kansanshi Golf Estate at 06:46 AM. ETA School: 20 mins.'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Wrong-Bus Lockout Protection: Tablet screen sounds audible warning if a learner attempts to board the wrong route or exits at the wrong stop.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Offline Store-and-Forward: Pockets along Kansanshi Mine Road with low cellular coverage store taps locally in SQLite and auto-sync when reconnected.</a:t>
            </a:r>
          </a:p>
        </p:txBody>
      </p:sp>
      <p:pic>
        <p:nvPicPr>
          <p:cNvPr id="7" name="Picture 6" descr="Screenshot 2026-10-18 10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540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Fees Management, Inflows Ledger &amp; Complete Cashbook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B2545"/>
                </a:solidFill>
              </a:defRPr>
            </a:pPr>
            <a:r>
              <a:t>Financial Governance &amp; Multi-Channel Inflows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Zero-Variance Reconciliation: All 780 student ledger accounts match official receipts with zero discrepancy across Zanaco, Stanbic, and Mobile Money.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Multi-Campus Fee Isolation: Independent billing schedules for Urban Primary (Day Tuition K2,800) and Mushitala (Tuition + Boarding K10,400).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Real-Time Transparent Receipts: 2,123 reconciled institutional receipts generated with audit trails and instant PDF receipt generation.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Expenditure Control (Outflows): Strict authorization workflow for operational disbursements, fuel rations, food dining provisions, and payroll.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Recovery Rate Optimization: Visual aged debtors ledger categorizing 30, 60, and 90+ day balances to systematically close out arrears.</a:t>
            </a:r>
          </a:p>
        </p:txBody>
      </p:sp>
      <p:pic>
        <p:nvPicPr>
          <p:cNvPr id="7" name="Picture 6" descr="Screenshot 2026-10-18 100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6217920" cy="3957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Teacher Workspace: ECZ Assessment Suite &amp; 3-Tier Supervisory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B2545"/>
                </a:solidFill>
              </a:defRPr>
            </a:pPr>
            <a:r>
              <a:t>Standardized Scholastic Markbook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All 16 Cohorts Selectable: Seamlessly switches between Early Years, Grades 1-7, and Forms 1-5 with full 30 to 44 student rosters loaded dynamically.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Full ECZ Curriculum Spectrum: Captures all subjects: Sciences, Mathematics, English, ICT, Social Studies, Zambian Languages, and Commerce.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4-Tier Assessment Breakdown: Weekly Topic Tests (15%), Continuous Assessments (25%), Mock Exams (20%), and Term Finals (40%) = 100% total.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3-Tier Supervisory Workflow: Class Teacher submits -&gt; Senior Teacher / HOD endorses -&gt; Principal gives final approval before publication.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Offline Markbook Entry: Teachers can grade test papers without active internet; marks store locally and auto-sync when Wi-Fi connects.</a:t>
            </a:r>
          </a:p>
        </p:txBody>
      </p:sp>
      <p:pic>
        <p:nvPicPr>
          <p:cNvPr id="7" name="Picture 6" descr="Screenshot 2026-10-18 102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6217920" cy="30739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Parent Portal: Multi-Child Family Academic, Attendance &amp; Fee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B2545"/>
                </a:solidFill>
              </a:defRPr>
            </a:pPr>
            <a:r>
              <a:t>Transparent Family Engagement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Multi-Ward Switcher: Parents with multiple children (e.g. Bupe, Kondwani, Natasha, Chileshe) switch between all wards in one unified portal.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Historical Performance Graphs: Multi-term trend charts (2024 to 2026) illustrate grade progression and classroom rankings over time.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Complete ECZ Subject Breakdown: Itemized marks across all 10 to 12 subjects with personalized teacher remarks and conduct ratings.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Instant Mobile Money Settlement: Direct push-prompt fee payment via Airtel Money and MTN MoMo with instant receipt generation.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Official Printable Report Cards: Parents can download and print official Ministry-formatted report cards with digital school stamps and signatures.</a:t>
            </a:r>
          </a:p>
        </p:txBody>
      </p:sp>
      <p:pic>
        <p:nvPicPr>
          <p:cNvPr id="7" name="Picture 6" descr="Screenshot 2026-10-18 102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6217920" cy="38997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Boarding Village &amp; Student 360° Safeguarding Dossiers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B2545"/>
                </a:solidFill>
              </a:defRPr>
            </a:pPr>
            <a:r>
              <a:t>Holistic Pastoral Care &amp; Resident Welfare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Accommodation Tracking: Real-time bed, wing, and dorm assignments for 315 boarders across Kansanshi Boys and Kalumbila Girls Halls.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Multi-Year Residential History: Preserves records of dorm rooms, bed numbers, locker codes, and inspection ratings from Form 1 to Form 5.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Digital Exeat Pass Workflow: Automated approval trail for weekend exeats, medical clinic visits, and sports travel with SMS verification.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24/7 Sickbay Health Records: Resident nurse incident logging, chronic condition medication monitoring, and emergency doctor referrals.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Day Scholar Terminal Management: Separate locker and transit marshaling for day pupils, with one-click conversion to boarding status.</a:t>
            </a:r>
          </a:p>
        </p:txBody>
      </p:sp>
      <p:pic>
        <p:nvPicPr>
          <p:cNvPr id="7" name="Picture 6" descr="Screenshot 2026-10-18 100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6217920" cy="4670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Commercial Investment Breakdown: Turnkey Software, IoT Hardware &amp; Support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657600"/>
                <a:gridCol w="1645920"/>
                <a:gridCol w="1584655"/>
              </a:tblGrid>
              <a:tr h="5617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Investment Component / Deliverable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Scope of Coverage &amp; Specifications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Year 1 (ZMW)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4AF37"/>
                          </a:solidFill>
                        </a:defRPr>
                      </a:pPr>
                      <a:r>
                        <a:t>USD Equiv.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EduSphere Sovereign Enterprise Platform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Multi-Campus License, Finance, SIS, Academics, GIS &amp; Parent Portal (Unlimited Admin &amp; Teacher Users)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$ 2,500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Implementation, Historical Seeding &amp;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Data migration of 780 students, 48 staff profiles, database configuration, and backup server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$ 1,075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Smart Bus Hardware (2 In-Vehicle Telematics Tablets)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2x Rugged 7-inch Android In-Bus Tablets, NFC RFID readers, GPS mounts, and 4G SIM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$ 750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Smart Student Contactless ID Cards (800 Cards)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800 Dual-Frequency MIFARE 13.56MHz + QR printed PVC student smart identification badges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$ 615</a:t>
                      </a:r>
                    </a:p>
                  </a:txBody>
                  <a:tcPr/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Staff Onboarding &amp; Operational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Hands-on workshops for 48 staff (Bursars, HODs, Teachers, Matrons, Drivers, and Executive Management)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K 14,500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$ 560</a:t>
                      </a:r>
                    </a:p>
                  </a:txBody>
                  <a:tcPr/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TOTAL YEAR 1 CAPITAL &amp; IMPLEMENTATION INVESTMENT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Complete sovereign school digital ecosystem with full warranty, support, and backups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K 143,000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$ 5,500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Return on Investment (ROI) Justification for Executive Management: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1. Immediate Arrears Recovery: Automating parent Mobile Money prompts captures ~15% of the K279,000 pending fee balances within 30 days (+K41,850 recovered).</a:t>
            </a:r>
            <a:br/>
            <a:r>
              <a:t>2. Printing Cost Elimination: Eliminating physical carbon-copy paper receipts and printed report cards saves ~K22,000 annually.</a:t>
            </a:r>
            <a:br/>
            <a:r>
              <a:t>3. Fuel &amp; Route Optimization: Smart GPS route stop planning saves ~10-15% on diesel transport costs across both shuttles.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Deployment Timeline: 4-Week Fast-Track Execution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1: Sovereign Setup &amp; Cloud Architecture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Deploy Dockerized PostgreSQL &amp; Next.js engine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Configure automated nightly off-site database backups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Migrate 780 legacy learner profiles and fee balances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Finalize custom theme colors &amp; school crest branding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2: Smart Bus IoT &amp; Hardware Deployment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Procure and program 800 MIFARE NFC student ID cards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Install 2x Android in-bus GPS telematics tablets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Set up cellular 4G SIMs and offline store-and-forward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Test driver route navigation and geofenced bus stops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3: Staff Training &amp; Academic Markbook Pilot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Conduct workshops for 48 staff members across cadres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Train teachers on topic test, CA, and mock exam entry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Train bursar and finance staff on cashbook vouchers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Conduct mock roll-call attendance on shuttle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4: Parent Portal Launch &amp; Full Go-Live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Dispatch parent SMS credentials and onboarding guide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Open Airtel &amp; MTN Mobile Money payment channels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Publish official Term 1 digital report cards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Transition to 24/7 technical monitoring &amp; SLA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6534"/>
                </a:solidFill>
              </a:defRPr>
            </a:pPr>
            <a:r>
              <a:t>Enterprise Service Level Agreement (SLA): 99.9% Uptime Guarantee  •  Daily Encrypted Off-Site Backups  •  Dedicated On-Call Technical Support for Solwezi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4AF37"/>
                </a:solidFill>
              </a:defRPr>
            </a:pPr>
            <a:r>
              <a:t>SUMMARY OF RECOMMENDATIONS FOR EXECUTIVE APPROVAL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</a:defRPr>
            </a:pPr>
            <a:r>
              <a:t>1. Approve Sovereign SMIS Deployment: Authorize transition from manual spreadsheets to EduSphere across Mushitala and Urban campuses.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</a:defRPr>
            </a:pPr>
            <a:r>
              <a:t>2. Greenlight Smart Bus Hardware Integration: Commission in-bus Android telematics tablets and 800 NFC learner ID cards for automated boarding verification and SMS parent alerts.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</a:defRPr>
            </a:pPr>
            <a:r>
              <a:t>3. Activate Integrated Mobile Money Gateway: Formalize Airtel &amp; MTN merchant aggregators to allow instant parent tuition settlements, reducing aged debt.</a:t>
            </a:r>
          </a:p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</a:defRPr>
            </a:pPr>
            <a:r>
              <a:t>4. Authorize 4-Week Rollout Roadmap: Direct the ICT and Academic departments to commence staff training and data validation for full Term 1 operation.</a:t>
            </a:r>
          </a:p>
          <a:p>
            <a:br/>
            <a:pPr>
              <a:defRPr sz="1100" i="1">
                <a:solidFill>
                  <a:srgbClr val="CBD5E1"/>
                </a:solidFill>
              </a:defRPr>
            </a:pPr>
            <a:r>
              <a:t>Prepared with dedication for Legacy School Solwezi  •  We strive for your academic and moral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